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21D3D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120640"/>
            <a:ext cx="3840480" cy="3840480"/>
          </a:xfrm>
          <a:prstGeom prst="ellipse">
            <a:avLst/>
          </a:prstGeom>
          <a:solidFill>
            <a:srgbClr val="121D3D"/>
          </a:solidFill>
          <a:ln/>
        </p:spPr>
      </p:sp>
      <p:sp>
        <p:nvSpPr>
          <p:cNvPr id="4" name="Shape 2"/>
          <p:cNvSpPr/>
          <p:nvPr/>
        </p:nvSpPr>
        <p:spPr>
          <a:xfrm>
            <a:off x="4221328" y="685800"/>
            <a:ext cx="374904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56">
                <a:alpha val="25000"/>
              </a:srgbClr>
            </a:outerShdw>
          </a:effectLst>
        </p:spPr>
      </p:sp>
      <p:pic>
        <p:nvPicPr>
          <p:cNvPr id="5" name="Image 0" descr="images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5920" y="777240"/>
            <a:ext cx="341985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331720"/>
            <a:ext cx="103628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 ACADEMIC</a:t>
            </a:r>
            <a:endParaRPr lang="en-US" sz="4200" dirty="0"/>
          </a:p>
          <a:p>
            <a:pPr algn="ctr"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914400" y="37033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S A M S 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272888" y="4224528"/>
            <a:ext cx="164592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370832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 Programming Group Project  —  COSC 31112 / BECS 31242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50749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11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5532120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PS/2022/142 – W.A.P.V. Weerasingha      PS/2022/199 – L.A.P. Prabodhitha</a:t>
            </a:r>
            <a:endParaRPr lang="en-US" sz="12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PS/2022/070 – A.M.A.D.M. Alagiyawanna      PS/2022/219 – K.A.C.K. Kulathunga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14400" y="6291072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Statistics &amp; Computer Science  |  Faculty of Science  |  University of Kelaniya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292608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7E1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56">
                <a:alpha val="12000"/>
              </a:srgbClr>
            </a:outerShdw>
          </a:effectLst>
        </p:spPr>
      </p:sp>
      <p:pic>
        <p:nvPicPr>
          <p:cNvPr id="3" name="Image 0" descr="images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495" y="352044"/>
            <a:ext cx="2148840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1874520"/>
            <a:ext cx="777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E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280160" y="18745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80160" y="2240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SAMS is and the problem it solves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2898648"/>
            <a:ext cx="777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E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280160" y="28986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80160" y="32644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Class Teacher &amp; Subject Teacher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02920" y="3922776"/>
            <a:ext cx="777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E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1280160" y="392277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280160" y="42885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and account registration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02920" y="4946904"/>
            <a:ext cx="777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E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280160" y="494690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280160" y="531266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users, students &amp; classes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035040" y="1874520"/>
            <a:ext cx="777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E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6812280" y="18745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Teacher Module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812280" y="2240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marks &amp; discipline tracking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035040" y="2898648"/>
            <a:ext cx="777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E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6812280" y="28986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Teacher Module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812280" y="32644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subject mark sheets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035040" y="3922776"/>
            <a:ext cx="777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E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6812280" y="392277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812280" y="42885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SAMS effective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035040" y="4946904"/>
            <a:ext cx="7772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E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28" name="Text 25"/>
          <p:cNvSpPr/>
          <p:nvPr/>
        </p:nvSpPr>
        <p:spPr>
          <a:xfrm>
            <a:off x="6812280" y="494690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812280" y="531266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built what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Academic Management System  •  Group 11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292608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7E1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56">
                <a:alpha val="12000"/>
              </a:srgbClr>
            </a:outerShdw>
          </a:effectLst>
        </p:spPr>
      </p:sp>
      <p:pic>
        <p:nvPicPr>
          <p:cNvPr id="3" name="Image 0" descr="images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495" y="352044"/>
            <a:ext cx="2148840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SAMS?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1965960"/>
            <a:ext cx="59893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26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desktop application built to help school staff manage day-to-day academic administration.</a:t>
            </a:r>
            <a:endParaRPr lang="en-US" sz="1450" dirty="0"/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26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sign in through a secure login and land on a dashboard tailored to their role.</a:t>
            </a:r>
            <a:endParaRPr lang="en-US" sz="1450" dirty="0"/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26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student information management, disciplinary tracking, and academic performance monitoring.</a:t>
            </a:r>
            <a:endParaRPr lang="en-US" sz="1450" dirty="0"/>
          </a:p>
          <a:p>
            <a:pPr marL="177800" indent="-177800">
              <a:spcAft>
                <a:spcPts val="1600"/>
              </a:spcAft>
              <a:buSzPct val="100000"/>
              <a:buChar char="▪"/>
            </a:pPr>
            <a:r>
              <a:rPr lang="en-US" sz="1450" dirty="0">
                <a:solidFill>
                  <a:srgbClr val="26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bulk upload of marks via Excel, cutting down manual data-entry errors.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903720" y="1874520"/>
            <a:ext cx="4785055" cy="4160520"/>
          </a:xfrm>
          <a:prstGeom prst="roundRect">
            <a:avLst>
              <a:gd name="adj" fmla="val 2198"/>
            </a:avLst>
          </a:prstGeom>
          <a:solidFill>
            <a:srgbClr val="E8EEF7"/>
          </a:solidFill>
          <a:ln/>
        </p:spPr>
      </p:sp>
      <p:sp>
        <p:nvSpPr>
          <p:cNvPr id="8" name="Text 5"/>
          <p:cNvSpPr/>
          <p:nvPr/>
        </p:nvSpPr>
        <p:spPr>
          <a:xfrm>
            <a:off x="7178040" y="2084832"/>
            <a:ext cx="4236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role-based dashboards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187184" y="2660904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icons/admin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3247" y="2796967"/>
            <a:ext cx="294803" cy="294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863840" y="2697480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863840" y="2990088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oversight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187184" y="373989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icons/classteache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247" y="3875959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863840" y="3776472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Teacher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7863840" y="4069080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Class-level records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187184" y="481888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icons/subjectteacher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3247" y="4954951"/>
            <a:ext cx="294803" cy="29480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863840" y="4855464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Teacher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7863840" y="5148072"/>
            <a:ext cx="3550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mark sheets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Academic Management System  •  Group 11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292608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7E1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56">
                <a:alpha val="12000"/>
              </a:srgbClr>
            </a:outerShdw>
          </a:effectLst>
        </p:spPr>
      </p:sp>
      <p:pic>
        <p:nvPicPr>
          <p:cNvPr id="3" name="Image 0" descr="images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495" y="352044"/>
            <a:ext cx="2148840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Signing In &amp; Getting Access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7E1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56">
                <a:alpha val="18000"/>
              </a:srgbClr>
            </a:outerShdw>
          </a:effectLst>
        </p:spPr>
      </p:sp>
      <p:pic>
        <p:nvPicPr>
          <p:cNvPr id="7" name="Image 1" descr="images/log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367281"/>
            <a:ext cx="5093208" cy="28641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0936" y="5632704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309360" y="196596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7E1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56">
                <a:alpha val="18000"/>
              </a:srgbClr>
            </a:outerShdw>
          </a:effectLst>
        </p:spPr>
      </p:sp>
      <p:pic>
        <p:nvPicPr>
          <p:cNvPr id="10" name="Image 2" descr="images/regis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367281"/>
            <a:ext cx="5093208" cy="286410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37376" y="5632704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502920" y="605332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</a:t>
            </a:r>
            <a:pPr indent="0" marL="0">
              <a:buNone/>
            </a:pPr>
            <a:r>
              <a:rPr lang="en-US" sz="12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&amp; password sign-in, with show/hide password and a Forgot Password link.  </a:t>
            </a:r>
            <a:pPr indent="0" marL="0">
              <a:buNone/>
            </a:pPr>
            <a:r>
              <a:rPr lang="en-US" sz="12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Register: </a:t>
            </a:r>
            <a:pPr indent="0" marL="0">
              <a:buNone/>
            </a:pPr>
            <a:r>
              <a:rPr lang="en-US" sz="12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staff submit their details to request access, pending Admin approval.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Academic Management System  •  Group 11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292608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7E1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56">
                <a:alpha val="12000"/>
              </a:srgbClr>
            </a:outerShdw>
          </a:effectLst>
        </p:spPr>
      </p:sp>
      <p:pic>
        <p:nvPicPr>
          <p:cNvPr id="3" name="Image 0" descr="images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495" y="352044"/>
            <a:ext cx="2148840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6492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7E1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56">
                <a:alpha val="18000"/>
              </a:srgbClr>
            </a:outerShdw>
          </a:effectLst>
        </p:spPr>
      </p:sp>
      <p:pic>
        <p:nvPicPr>
          <p:cNvPr id="7" name="Image 1" descr="images/admin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161121"/>
            <a:ext cx="6236208" cy="35050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2360" y="2057400"/>
            <a:ext cx="4236415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26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School-wide snapshot: total classes, students, teachers and subjects.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26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User-roles breakdown — Admins, Class Teachers, Subject Teachers &amp; pending approvals.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26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Grade-wise student statistics across all grade bands.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26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screen Admins land on right after logging in.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Academic Management System  •  Group 11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292608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7E1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56">
                <a:alpha val="12000"/>
              </a:srgbClr>
            </a:outerShdw>
          </a:effectLst>
        </p:spPr>
      </p:sp>
      <p:pic>
        <p:nvPicPr>
          <p:cNvPr id="3" name="Image 0" descr="images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495" y="352044"/>
            <a:ext cx="2148840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Users &amp; Students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7E1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56">
                <a:alpha val="18000"/>
              </a:srgbClr>
            </a:outerShdw>
          </a:effectLst>
        </p:spPr>
      </p:sp>
      <p:pic>
        <p:nvPicPr>
          <p:cNvPr id="7" name="Image 1" descr="images/manage_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368029"/>
            <a:ext cx="5093208" cy="286260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0936" y="5632704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309360" y="196596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7E1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56">
                <a:alpha val="18000"/>
              </a:srgbClr>
            </a:outerShdw>
          </a:effectLst>
        </p:spPr>
      </p:sp>
      <p:pic>
        <p:nvPicPr>
          <p:cNvPr id="10" name="Image 2" descr="images/manage_studen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368029"/>
            <a:ext cx="5093208" cy="286260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37376" y="5632704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Students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502920" y="605332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 </a:t>
            </a:r>
            <a:pPr indent="0" marL="0">
              <a:buNone/>
            </a:pPr>
            <a:r>
              <a:rPr lang="en-US" sz="12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search/filter by role, review pending registrations, approve or manage accounts.  </a:t>
            </a:r>
            <a:pPr indent="0" marL="0">
              <a:buNone/>
            </a:pPr>
            <a:r>
              <a:rPr lang="en-US" sz="12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Students: </a:t>
            </a:r>
            <a:pPr indent="0" marL="0">
              <a:buNone/>
            </a:pPr>
            <a:r>
              <a:rPr lang="en-US" sz="12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class and view full records — guardian name, contact, and address.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Academic Management System  •  Group 11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292608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7E1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56">
                <a:alpha val="12000"/>
              </a:srgbClr>
            </a:outerShdw>
          </a:effectLst>
        </p:spPr>
      </p:sp>
      <p:pic>
        <p:nvPicPr>
          <p:cNvPr id="3" name="Image 0" descr="images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495" y="352044"/>
            <a:ext cx="2148840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Classes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6492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7E1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56">
                <a:alpha val="18000"/>
              </a:srgbClr>
            </a:outerShdw>
          </a:effectLst>
        </p:spPr>
      </p:sp>
      <p:pic>
        <p:nvPicPr>
          <p:cNvPr id="7" name="Image 1" descr="images/manage_cl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161121"/>
            <a:ext cx="6236208" cy="35050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2360" y="2057400"/>
            <a:ext cx="4236415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26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the full class list by grade.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26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class with its assigned Class Teacher at a glance.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26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classes or edit/delete existing ones from the same screen.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2633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grade structure and staffing consistent across the school.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Academic Management System  •  Group 11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292608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7E1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56">
                <a:alpha val="12000"/>
              </a:srgbClr>
            </a:outerShdw>
          </a:effectLst>
        </p:spPr>
      </p:sp>
      <p:pic>
        <p:nvPicPr>
          <p:cNvPr id="3" name="Image 0" descr="images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495" y="352044"/>
            <a:ext cx="2148840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TEACHER MODULE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Teacher Workspace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7E1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56">
                <a:alpha val="18000"/>
              </a:srgbClr>
            </a:outerShdw>
          </a:effectLst>
        </p:spPr>
      </p:sp>
      <p:pic>
        <p:nvPicPr>
          <p:cNvPr id="7" name="Image 1" descr="images/classteacher_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368029"/>
            <a:ext cx="5093208" cy="286260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0936" y="5632704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Profile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309360" y="196596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7E1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56">
                <a:alpha val="18000"/>
              </a:srgbClr>
            </a:outerShdw>
          </a:effectLst>
        </p:spPr>
      </p:sp>
      <p:pic>
        <p:nvPicPr>
          <p:cNvPr id="10" name="Image 2" descr="images/subject_marks_c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368029"/>
            <a:ext cx="5093208" cy="286260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37376" y="5632704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Marks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502920" y="605332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Profile: </a:t>
            </a:r>
            <a:pPr indent="0" marL="0">
              <a:buNone/>
            </a:pPr>
            <a:r>
              <a:rPr lang="en-US" sz="12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details plus assigned classes &amp; subject.  </a:t>
            </a:r>
            <a:pPr indent="0" marL="0">
              <a:buNone/>
            </a:pPr>
            <a:r>
              <a:rPr lang="en-US" sz="12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Marks: </a:t>
            </a:r>
            <a:pPr indent="0" marL="0">
              <a:buNone/>
            </a:pPr>
            <a:r>
              <a:rPr lang="en-US" sz="12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class &amp; term to load a mark sheet, with class average and highest score shown instantly.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Academic Management System  •  Group 11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292608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7E1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56">
                <a:alpha val="12000"/>
              </a:srgbClr>
            </a:outerShdw>
          </a:effectLst>
        </p:spPr>
      </p:sp>
      <p:pic>
        <p:nvPicPr>
          <p:cNvPr id="3" name="Image 0" descr="images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495" y="352044"/>
            <a:ext cx="2148840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TEACHER MODULE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Recording Marks &amp; Discipline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7E1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56">
                <a:alpha val="18000"/>
              </a:srgbClr>
            </a:outerShdw>
          </a:effectLst>
        </p:spPr>
      </p:sp>
      <p:pic>
        <p:nvPicPr>
          <p:cNvPr id="7" name="Image 1" descr="images/add_mar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550" y="2093976"/>
            <a:ext cx="4333980" cy="34107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0936" y="5632704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Marks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309360" y="196596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7E1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56">
                <a:alpha val="18000"/>
              </a:srgbClr>
            </a:outerShdw>
          </a:effectLst>
        </p:spPr>
      </p:sp>
      <p:pic>
        <p:nvPicPr>
          <p:cNvPr id="10" name="Image 2" descr="images/discip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368029"/>
            <a:ext cx="5093208" cy="286260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37376" y="5632704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Records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502920" y="605332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Marks: </a:t>
            </a:r>
            <a:pPr indent="0" marL="0">
              <a:buNone/>
            </a:pPr>
            <a:r>
              <a:rPr lang="en-US" sz="12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grid to enter or update every student’s mark before saving.  </a:t>
            </a:r>
            <a:pPr indent="0" marL="0">
              <a:buNone/>
            </a:pPr>
            <a:r>
              <a:rPr lang="en-US" sz="12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Discipline: </a:t>
            </a:r>
            <a:pPr indent="0" marL="0">
              <a:buNone/>
            </a:pPr>
            <a:r>
              <a:rPr lang="en-US" sz="12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 student, log a disciplinary entry, and cancel it once resolved.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Academic Management System  •  Group 11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292608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7E1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56">
                <a:alpha val="12000"/>
              </a:srgbClr>
            </a:outerShdw>
          </a:effectLst>
        </p:spPr>
      </p:sp>
      <p:pic>
        <p:nvPicPr>
          <p:cNvPr id="3" name="Image 0" descr="images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495" y="352044"/>
            <a:ext cx="2148840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TEACHER MODULE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 Teacher Workspace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96596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7E1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56">
                <a:alpha val="18000"/>
              </a:srgbClr>
            </a:outerShdw>
          </a:effectLst>
        </p:spPr>
      </p:sp>
      <p:pic>
        <p:nvPicPr>
          <p:cNvPr id="7" name="Image 1" descr="images/teacher_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368029"/>
            <a:ext cx="5093208" cy="286260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0936" y="5632704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Profile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309360" y="196596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7E1F2"/>
            </a:solidFill>
            <a:prstDash val="solid"/>
          </a:ln>
          <a:effectLst>
            <a:outerShdw sx="100000" sy="100000" kx="0" ky="0" algn="bl" rotWithShape="0" blurRad="114300" dist="38100" dir="5400000">
              <a:srgbClr val="1B2A56">
                <a:alpha val="18000"/>
              </a:srgbClr>
            </a:outerShdw>
          </a:effectLst>
        </p:spPr>
      </p:sp>
      <p:pic>
        <p:nvPicPr>
          <p:cNvPr id="10" name="Image 2" descr="images/subject_marks_teach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368029"/>
            <a:ext cx="5093208" cy="286260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37376" y="5632704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Marks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502920" y="6053328"/>
            <a:ext cx="11185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Profile: </a:t>
            </a:r>
            <a:pPr indent="0" marL="0">
              <a:buNone/>
            </a:pPr>
            <a:r>
              <a:rPr lang="en-US" sz="12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information and assigned classes/subject in one place.  </a:t>
            </a:r>
            <a:pPr indent="0" marL="0">
              <a:buNone/>
            </a:pPr>
            <a:r>
              <a:rPr lang="en-US" sz="12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Marks: </a:t>
            </a:r>
            <a:pPr indent="0" marL="0">
              <a:buNone/>
            </a:pPr>
            <a:r>
              <a:rPr lang="en-US" sz="12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load-and-manage mark sheet, scoped to the subject they teach.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Academic Management System  •  Group 11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292608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7E1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56">
                <a:alpha val="12000"/>
              </a:srgbClr>
            </a:outerShdw>
          </a:effectLst>
        </p:spPr>
      </p:sp>
      <p:pic>
        <p:nvPicPr>
          <p:cNvPr id="3" name="Image 0" descr="images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495" y="352044"/>
            <a:ext cx="2148840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SAMS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Highlights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2011680"/>
            <a:ext cx="3484778" cy="1783080"/>
          </a:xfrm>
          <a:prstGeom prst="roundRect">
            <a:avLst>
              <a:gd name="adj" fmla="val 5128"/>
            </a:avLst>
          </a:prstGeom>
          <a:solidFill>
            <a:srgbClr val="E8EEF7"/>
          </a:solidFill>
          <a:ln/>
        </p:spPr>
      </p:sp>
      <p:sp>
        <p:nvSpPr>
          <p:cNvPr id="7" name="Shape 4"/>
          <p:cNvSpPr/>
          <p:nvPr/>
        </p:nvSpPr>
        <p:spPr>
          <a:xfrm>
            <a:off x="722376" y="223113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icons/shiel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439" y="2367199"/>
            <a:ext cx="294803" cy="2948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4088" y="2880360"/>
            <a:ext cx="30824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04088" y="3182112"/>
            <a:ext cx="30824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Admins, Class Teachers and Subject Teachers each see only what's relevant to them.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353458" y="2011680"/>
            <a:ext cx="3484778" cy="1783080"/>
          </a:xfrm>
          <a:prstGeom prst="roundRect">
            <a:avLst>
              <a:gd name="adj" fmla="val 5128"/>
            </a:avLst>
          </a:prstGeom>
          <a:solidFill>
            <a:srgbClr val="E8EEF7"/>
          </a:solidFill>
          <a:ln/>
        </p:spPr>
      </p:sp>
      <p:sp>
        <p:nvSpPr>
          <p:cNvPr id="12" name="Shape 8"/>
          <p:cNvSpPr/>
          <p:nvPr/>
        </p:nvSpPr>
        <p:spPr>
          <a:xfrm>
            <a:off x="4572914" y="223113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icons/lo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8977" y="2367199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54626" y="2880360"/>
            <a:ext cx="30824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54626" y="3182112"/>
            <a:ext cx="30824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login with password visibility toggles and account recovery.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203997" y="2011680"/>
            <a:ext cx="3484778" cy="1783080"/>
          </a:xfrm>
          <a:prstGeom prst="roundRect">
            <a:avLst>
              <a:gd name="adj" fmla="val 5128"/>
            </a:avLst>
          </a:prstGeom>
          <a:solidFill>
            <a:srgbClr val="E8EEF7"/>
          </a:solidFill>
          <a:ln/>
        </p:spPr>
      </p:sp>
      <p:sp>
        <p:nvSpPr>
          <p:cNvPr id="17" name="Shape 12"/>
          <p:cNvSpPr/>
          <p:nvPr/>
        </p:nvSpPr>
        <p:spPr>
          <a:xfrm>
            <a:off x="8423453" y="223113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3" descr="icons/excel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9516" y="2367199"/>
            <a:ext cx="294803" cy="29480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05165" y="2880360"/>
            <a:ext cx="30824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Excel Upload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405165" y="3182112"/>
            <a:ext cx="30824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can be imported in bulk, cutting manual entry errors.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02920" y="4014216"/>
            <a:ext cx="3484778" cy="1783080"/>
          </a:xfrm>
          <a:prstGeom prst="roundRect">
            <a:avLst>
              <a:gd name="adj" fmla="val 5128"/>
            </a:avLst>
          </a:prstGeom>
          <a:solidFill>
            <a:srgbClr val="E8EEF7"/>
          </a:solidFill>
          <a:ln/>
        </p:spPr>
      </p:sp>
      <p:sp>
        <p:nvSpPr>
          <p:cNvPr id="22" name="Shape 16"/>
          <p:cNvSpPr/>
          <p:nvPr/>
        </p:nvSpPr>
        <p:spPr>
          <a:xfrm>
            <a:off x="722376" y="42336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4" descr="icons/char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439" y="4369735"/>
            <a:ext cx="294803" cy="29480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4088" y="4882896"/>
            <a:ext cx="30824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704088" y="5184648"/>
            <a:ext cx="30824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stats on students, classes, teachers and subjects.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353458" y="4014216"/>
            <a:ext cx="3484778" cy="1783080"/>
          </a:xfrm>
          <a:prstGeom prst="roundRect">
            <a:avLst>
              <a:gd name="adj" fmla="val 5128"/>
            </a:avLst>
          </a:prstGeom>
          <a:solidFill>
            <a:srgbClr val="E8EEF7"/>
          </a:solidFill>
          <a:ln/>
        </p:spPr>
      </p:sp>
      <p:sp>
        <p:nvSpPr>
          <p:cNvPr id="27" name="Shape 20"/>
          <p:cNvSpPr/>
          <p:nvPr/>
        </p:nvSpPr>
        <p:spPr>
          <a:xfrm>
            <a:off x="4572914" y="42336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5" descr="icons/disciplin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8977" y="4369735"/>
            <a:ext cx="294803" cy="29480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554626" y="4882896"/>
            <a:ext cx="30824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Tracking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4554626" y="5184648"/>
            <a:ext cx="30824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logging and resolution of student disciplinary records.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8203997" y="4014216"/>
            <a:ext cx="3484778" cy="1783080"/>
          </a:xfrm>
          <a:prstGeom prst="roundRect">
            <a:avLst>
              <a:gd name="adj" fmla="val 5128"/>
            </a:avLst>
          </a:prstGeom>
          <a:solidFill>
            <a:srgbClr val="E8EEF7"/>
          </a:solidFill>
          <a:ln/>
        </p:spPr>
      </p:sp>
      <p:sp>
        <p:nvSpPr>
          <p:cNvPr id="32" name="Shape 24"/>
          <p:cNvSpPr/>
          <p:nvPr/>
        </p:nvSpPr>
        <p:spPr>
          <a:xfrm>
            <a:off x="8423453" y="42336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6" descr="icons/grad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9516" y="4369735"/>
            <a:ext cx="294803" cy="294803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405165" y="4882896"/>
            <a:ext cx="30824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Records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8405165" y="5184648"/>
            <a:ext cx="30824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for student, class and academic-performance data.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Academic Management System  •  Group 11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292608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7E1F2"/>
            </a:solidFill>
            <a:prstDash val="solid"/>
          </a:ln>
          <a:effectLst>
            <a:outerShdw sx="100000" sy="100000" kx="0" ky="0" algn="bl" rotWithShape="0" blurRad="76200" dist="25400" dir="5400000">
              <a:srgbClr val="1B2A56">
                <a:alpha val="12000"/>
              </a:srgbClr>
            </a:outerShdw>
          </a:effectLst>
        </p:spPr>
      </p:sp>
      <p:pic>
        <p:nvPicPr>
          <p:cNvPr id="3" name="Image 0" descr="images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495" y="352044"/>
            <a:ext cx="2148840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274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02920" y="6217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Contributions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1118585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12317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Modules / Forms Developed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3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PS/2022/142 – W.A.P.V. Weerasingha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3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Form1.cs • Register.cs • AdminDashboard.cs • Admin_Teacher.cs • Manage_users.cs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3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PS/2022/199 – L.A.P. Prabodhitha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3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Admin_Classes.cs • Class_Teacher_Subject_marks.cs • add_mark_form.cs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3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PS/2022/070 – A.M.A.D.M. Alagiyawanna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3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Admin_profile.cs • Admin_student.cs • Student_registration.cs • Class_Teacher_Profile.cs • Teacher_profile.cs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3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PS/2022/219 – K.A.C.K. Kulathunga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33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Class_Teacher_Discipline.cs • Subject_Marks.cs • subject_teacher_mark_add.cs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Academic Management System  •  Group 11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3157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4389120" cy="4389120"/>
          </a:xfrm>
          <a:prstGeom prst="ellipse">
            <a:avLst/>
          </a:prstGeom>
          <a:solidFill>
            <a:srgbClr val="121D3D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023360"/>
            <a:ext cx="4023360" cy="4023360"/>
          </a:xfrm>
          <a:prstGeom prst="ellipse">
            <a:avLst/>
          </a:prstGeom>
          <a:solidFill>
            <a:srgbClr val="121D3D"/>
          </a:solidFill>
          <a:ln/>
        </p:spPr>
      </p:sp>
      <p:sp>
        <p:nvSpPr>
          <p:cNvPr id="4" name="Shape 2"/>
          <p:cNvSpPr/>
          <p:nvPr/>
        </p:nvSpPr>
        <p:spPr>
          <a:xfrm>
            <a:off x="4449928" y="868680"/>
            <a:ext cx="32918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56">
                <a:alpha val="25000"/>
              </a:srgbClr>
            </a:outerShdw>
          </a:effectLst>
        </p:spPr>
      </p:sp>
      <p:pic>
        <p:nvPicPr>
          <p:cNvPr id="5" name="Image 0" descr="images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6232" y="950976"/>
            <a:ext cx="2999232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5176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914400" y="361188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272888" y="4251960"/>
            <a:ext cx="1645920" cy="0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4348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11  —  School Academic Management System (SAMS)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6291072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Statistics &amp; Computer Science  |  Faculty of Science  |  University of Kelaniya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Academic Management System (SAMS)</dc:title>
  <dc:subject>PptxGenJS Presentation</dc:subject>
  <dc:creator>Group 11</dc:creator>
  <cp:lastModifiedBy>Group 11</cp:lastModifiedBy>
  <cp:revision>1</cp:revision>
  <dcterms:created xsi:type="dcterms:W3CDTF">2026-06-22T04:55:57Z</dcterms:created>
  <dcterms:modified xsi:type="dcterms:W3CDTF">2026-06-22T04:55:57Z</dcterms:modified>
</cp:coreProperties>
</file>