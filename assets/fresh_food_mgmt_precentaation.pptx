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74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9FC6F-1351-2E99-98E8-5BDBC4690577}" v="8" dt="2026-07-03T19:05:21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/2022/199 - PRABODHITHA L.A.P." userId="S::prabodh-ps22199@stu.kln.ac.lk::e7c548c2-b04a-4ef8-8259-5ec8afcdae3f" providerId="AD" clId="Web-{77F9FC6F-1351-2E99-98E8-5BDBC4690577}"/>
    <pc:docChg chg="modSld">
      <pc:chgData name="PS/2022/199 - PRABODHITHA L.A.P." userId="S::prabodh-ps22199@stu.kln.ac.lk::e7c548c2-b04a-4ef8-8259-5ec8afcdae3f" providerId="AD" clId="Web-{77F9FC6F-1351-2E99-98E8-5BDBC4690577}" dt="2026-07-03T19:05:21.555" v="7"/>
      <pc:docMkLst>
        <pc:docMk/>
      </pc:docMkLst>
      <pc:sldChg chg="delSp">
        <pc:chgData name="PS/2022/199 - PRABODHITHA L.A.P." userId="S::prabodh-ps22199@stu.kln.ac.lk::e7c548c2-b04a-4ef8-8259-5ec8afcdae3f" providerId="AD" clId="Web-{77F9FC6F-1351-2E99-98E8-5BDBC4690577}" dt="2026-07-03T19:05:21.555" v="7"/>
        <pc:sldMkLst>
          <pc:docMk/>
          <pc:sldMk cId="0" sldId="258"/>
        </pc:sldMkLst>
        <pc:spChg chg="del">
          <ac:chgData name="PS/2022/199 - PRABODHITHA L.A.P." userId="S::prabodh-ps22199@stu.kln.ac.lk::e7c548c2-b04a-4ef8-8259-5ec8afcdae3f" providerId="AD" clId="Web-{77F9FC6F-1351-2E99-98E8-5BDBC4690577}" dt="2026-07-03T19:05:21.555" v="7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PS/2022/199 - PRABODHITHA L.A.P." userId="S::prabodh-ps22199@stu.kln.ac.lk::e7c548c2-b04a-4ef8-8259-5ec8afcdae3f" providerId="AD" clId="Web-{77F9FC6F-1351-2E99-98E8-5BDBC4690577}" dt="2026-07-03T19:04:23.413" v="6" actId="1076"/>
        <pc:sldMkLst>
          <pc:docMk/>
          <pc:sldMk cId="0" sldId="267"/>
        </pc:sldMkLst>
        <pc:spChg chg="mod">
          <ac:chgData name="PS/2022/199 - PRABODHITHA L.A.P." userId="S::prabodh-ps22199@stu.kln.ac.lk::e7c548c2-b04a-4ef8-8259-5ec8afcdae3f" providerId="AD" clId="Web-{77F9FC6F-1351-2E99-98E8-5BDBC4690577}" dt="2026-07-03T19:04:23.413" v="6" actId="1076"/>
          <ac:spMkLst>
            <pc:docMk/>
            <pc:sldMk cId="0" sldId="267"/>
            <ac:spMk id="5" creationId="{00000000-0000-0000-0000-000000000000}"/>
          </ac:spMkLst>
        </pc:spChg>
      </pc:sldChg>
      <pc:sldChg chg="modSp">
        <pc:chgData name="PS/2022/199 - PRABODHITHA L.A.P." userId="S::prabodh-ps22199@stu.kln.ac.lk::e7c548c2-b04a-4ef8-8259-5ec8afcdae3f" providerId="AD" clId="Web-{77F9FC6F-1351-2E99-98E8-5BDBC4690577}" dt="2026-07-03T19:03:37.318" v="0" actId="20577"/>
        <pc:sldMkLst>
          <pc:docMk/>
          <pc:sldMk cId="0" sldId="268"/>
        </pc:sldMkLst>
        <pc:spChg chg="mod">
          <ac:chgData name="PS/2022/199 - PRABODHITHA L.A.P." userId="S::prabodh-ps22199@stu.kln.ac.lk::e7c548c2-b04a-4ef8-8259-5ec8afcdae3f" providerId="AD" clId="Web-{77F9FC6F-1351-2E99-98E8-5BDBC4690577}" dt="2026-07-03T19:03:37.318" v="0" actId="20577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78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.jpe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3320">
              <a:alpha val="60000"/>
            </a:srgbClr>
          </a:solidFill>
          <a:ln w="12700">
            <a:solidFill>
              <a:srgbClr val="00332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01A40">
              <a:alpha val="50000"/>
            </a:srgbClr>
          </a:solidFill>
          <a:ln w="12700">
            <a:solidFill>
              <a:srgbClr val="001A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2B1A">
              <a:alpha val="70000"/>
            </a:srgbClr>
          </a:solidFill>
          <a:ln w="12700">
            <a:solidFill>
              <a:srgbClr val="002B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217920" y="274320"/>
            <a:ext cx="2560320" cy="2560320"/>
          </a:xfrm>
          <a:prstGeom prst="ellipse">
            <a:avLst/>
          </a:prstGeom>
          <a:solidFill>
            <a:srgbClr val="0A0F0A"/>
          </a:solidFill>
          <a:ln w="12700">
            <a:solidFill>
              <a:srgbClr val="00C853"/>
            </a:solidFill>
            <a:prstDash val="solid"/>
          </a:ln>
          <a:effectLst>
            <a:outerShdw blurRad="254000" dist="50800" dir="2700000" algn="bl" rotWithShape="0">
              <a:srgbClr val="00C853">
                <a:alpha val="6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Shape 4"/>
          <p:cNvSpPr/>
          <p:nvPr/>
        </p:nvSpPr>
        <p:spPr>
          <a:xfrm>
            <a:off x="6583680" y="640080"/>
            <a:ext cx="1828800" cy="1828800"/>
          </a:xfrm>
          <a:prstGeom prst="ellipse">
            <a:avLst/>
          </a:prstGeom>
          <a:solidFill>
            <a:srgbClr val="003320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430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02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5943600" cy="1005840"/>
          </a:xfrm>
          <a:prstGeom prst="rect">
            <a:avLst/>
          </a:prstGeom>
          <a:noFill/>
          <a:ln/>
          <a:effectLst>
            <a:outerShdw blurRad="254000" dist="50800" dir="2700000" algn="bl" rotWithShape="0">
              <a:srgbClr val="00C853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Ceylon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Food Management System (FFMS)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Sri Lanka's Farming Community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5150112" cy="411480"/>
          </a:xfrm>
          <a:prstGeom prst="roundRect">
            <a:avLst>
              <a:gd name="adj" fmla="val 48889"/>
            </a:avLst>
          </a:prstGeom>
          <a:solidFill>
            <a:srgbClr val="003320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 dirty="0"/>
          </a:p>
        </p:txBody>
      </p:sp>
      <p:sp>
        <p:nvSpPr>
          <p:cNvPr id="13" name="Text 10"/>
          <p:cNvSpPr/>
          <p:nvPr/>
        </p:nvSpPr>
        <p:spPr>
          <a:xfrm>
            <a:off x="457200" y="363016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COSC 31103 / BECS 31233  •  Web &amp; Internet Technologies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D1A0D"/>
          </a:solidFill>
          <a:ln w="12700">
            <a:solidFill>
              <a:srgbClr val="1E3A1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54864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PS/2022/046  N.M.T.Madhuwantha   •   PS/2022/070  A.M.A.D.M.Alagiyawanna   •   PS/2022/152  E.M.T.Bandara   •   PS/2022/199  L.A.P.Prabodhitha   •   PS/2022/219  K.A.C.K.Kulathunga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498DB55-C11D-7843-D047-0D9470945CFE}"/>
              </a:ext>
            </a:extLst>
          </p:cNvPr>
          <p:cNvSpPr txBox="1"/>
          <p:nvPr/>
        </p:nvSpPr>
        <p:spPr>
          <a:xfrm>
            <a:off x="4069458" y="3624194"/>
            <a:ext cx="1919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PS-09</a:t>
            </a:r>
            <a:endParaRPr lang="en-US" sz="16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F6D00">
              <a:alpha val="20000"/>
            </a:srgbClr>
          </a:solidFill>
          <a:ln w="12700">
            <a:solidFill>
              <a:srgbClr val="FF6D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Fresh Ceylon?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connecting Sri Lanka's farmers, sales persons, and transporters — reducing food waste and improving market access.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  <a:effectLst>
            <a:outerShdw blurRad="203200" dist="38100" dir="2700000" algn="bl" rotWithShape="0">
              <a:srgbClr val="FF6D00">
                <a:alpha val="5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1284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spoils with no direct farmer-to-buyer channel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72968" y="210312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203200" dist="38100" dir="2700000" algn="bl" rotWithShape="0">
              <a:srgbClr val="00BCD4">
                <a:alpha val="5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21284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31336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2651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centralized system for listing, ordering &amp; transport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25896" y="2103120"/>
            <a:ext cx="2724912" cy="1691640"/>
          </a:xfrm>
          <a:prstGeom prst="roundRect">
            <a:avLst>
              <a:gd name="adj" fmla="val 6486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  <a:effectLst>
            <a:outerShdw blurRad="203200" dist="38100" dir="2700000" algn="bl" rotWithShape="0">
              <a:srgbClr val="7C4DFF">
                <a:alpha val="5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22128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84264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63056" y="2651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0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pricing, availability gaps, unknown delivery status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6576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41248" y="4178808"/>
            <a:ext cx="694944" cy="69494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610" y="433517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82880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Cooperative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94176" y="4178808"/>
            <a:ext cx="694944" cy="694944"/>
          </a:xfrm>
          <a:prstGeom prst="ellipse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0538" y="4335170"/>
            <a:ext cx="382219" cy="3822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035808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Persons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035808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&amp; Wholesalers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547104" y="4178808"/>
            <a:ext cx="694944" cy="694944"/>
          </a:xfrm>
          <a:prstGeom prst="ellipse">
            <a:avLst/>
          </a:prstGeom>
          <a:solidFill>
            <a:srgbClr val="4A1A6A"/>
          </a:solidFill>
          <a:ln w="12700">
            <a:solidFill>
              <a:srgbClr val="4A1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3466" y="4335170"/>
            <a:ext cx="382219" cy="38221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888736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888736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Truck Owners</a:t>
            </a:r>
            <a:endParaRPr lang="en-US" sz="10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286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7" name="Shape 5"/>
          <p:cNvSpPr/>
          <p:nvPr/>
        </p:nvSpPr>
        <p:spPr>
          <a:xfrm>
            <a:off x="429768" y="1527048"/>
            <a:ext cx="548640" cy="54864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1650492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2514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signup with full validation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13716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Shape 9"/>
          <p:cNvSpPr/>
          <p:nvPr/>
        </p:nvSpPr>
        <p:spPr>
          <a:xfrm>
            <a:off x="2560320" y="1527048"/>
            <a:ext cx="548640" cy="5486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764" y="1650492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203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Tools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42032" y="2514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produce, manage inventory &amp; orders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81144" y="13716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3"/>
          <p:cNvSpPr/>
          <p:nvPr/>
        </p:nvSpPr>
        <p:spPr>
          <a:xfrm>
            <a:off x="4690872" y="1527048"/>
            <a:ext cx="548640" cy="548640"/>
          </a:xfrm>
          <a:prstGeom prst="ellipse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16" y="1650492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72584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672584" y="2514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filter &amp; book produce orders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11696" y="13716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2" name="Shape 17"/>
          <p:cNvSpPr/>
          <p:nvPr/>
        </p:nvSpPr>
        <p:spPr>
          <a:xfrm>
            <a:off x="6821424" y="1527048"/>
            <a:ext cx="548640" cy="548640"/>
          </a:xfrm>
          <a:prstGeom prst="ellipse">
            <a:avLst/>
          </a:prstGeom>
          <a:solidFill>
            <a:srgbClr val="5A2A00"/>
          </a:solidFill>
          <a:ln w="12700">
            <a:solidFill>
              <a:srgbClr val="5A2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868" y="1650492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Transport Match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803136" y="2514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Transporters matched by service area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" y="32004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7" name="Shape 21"/>
          <p:cNvSpPr/>
          <p:nvPr/>
        </p:nvSpPr>
        <p:spPr>
          <a:xfrm>
            <a:off x="429768" y="3355848"/>
            <a:ext cx="548640" cy="548640"/>
          </a:xfrm>
          <a:prstGeom prst="ellipse">
            <a:avLst/>
          </a:prstGeom>
          <a:solidFill>
            <a:srgbClr val="5A3A00"/>
          </a:solidFill>
          <a:ln w="12700">
            <a:solidFill>
              <a:srgbClr val="5A3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" y="3479292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148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Notifications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11480" y="4343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&amp; delivery alerts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450592" y="32004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2" name="Shape 25"/>
          <p:cNvSpPr/>
          <p:nvPr/>
        </p:nvSpPr>
        <p:spPr>
          <a:xfrm>
            <a:off x="2560320" y="3355848"/>
            <a:ext cx="548640" cy="548640"/>
          </a:xfrm>
          <a:prstGeom prst="ellipse">
            <a:avLst/>
          </a:prstGeom>
          <a:solidFill>
            <a:srgbClr val="5A0020"/>
          </a:solidFill>
          <a:ln w="12700">
            <a:solidFill>
              <a:srgbClr val="5A0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3764" y="3479292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42032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System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2542032" y="4343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Post-delivery star ratings &amp; reviews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81144" y="32004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7" name="Shape 29"/>
          <p:cNvSpPr/>
          <p:nvPr/>
        </p:nvSpPr>
        <p:spPr>
          <a:xfrm>
            <a:off x="4690872" y="3355848"/>
            <a:ext cx="548640" cy="548640"/>
          </a:xfrm>
          <a:prstGeom prst="ellipse">
            <a:avLst/>
          </a:prstGeom>
          <a:solidFill>
            <a:srgbClr val="004A5A"/>
          </a:solidFill>
          <a:ln w="12700">
            <a:solidFill>
              <a:srgbClr val="004A5A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316" y="3479292"/>
            <a:ext cx="301752" cy="30175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72584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4672584" y="4343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crop, type &amp; city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711696" y="320040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2" name="Shape 33"/>
          <p:cNvSpPr/>
          <p:nvPr/>
        </p:nvSpPr>
        <p:spPr>
          <a:xfrm>
            <a:off x="6821424" y="3355848"/>
            <a:ext cx="548640" cy="548640"/>
          </a:xfrm>
          <a:prstGeom prst="ellipse">
            <a:avLst/>
          </a:prstGeom>
          <a:solidFill>
            <a:srgbClr val="3A1A4A"/>
          </a:solidFill>
          <a:ln w="12700">
            <a:solidFill>
              <a:srgbClr val="3A1A4A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4868" y="3479292"/>
            <a:ext cx="301752" cy="30175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03136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6803136" y="4343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password &amp; coverage areas</a:t>
            </a:r>
            <a:endParaRPr lang="en-US" sz="10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5577840" cy="365760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080760" y="1325880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111D13"/>
          </a:solidFill>
          <a:ln w="12700">
            <a:solidFill>
              <a:srgbClr val="00C853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7" name="Shape 4"/>
          <p:cNvSpPr/>
          <p:nvPr/>
        </p:nvSpPr>
        <p:spPr>
          <a:xfrm>
            <a:off x="6236208" y="158191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5"/>
          <p:cNvSpPr/>
          <p:nvPr/>
        </p:nvSpPr>
        <p:spPr>
          <a:xfrm>
            <a:off x="6473952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 with farming imagery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6208" y="2194560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7"/>
          <p:cNvSpPr/>
          <p:nvPr/>
        </p:nvSpPr>
        <p:spPr>
          <a:xfrm>
            <a:off x="6473952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value proposition headline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6208" y="2807208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473952" y="2761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Create Account CTAs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6208" y="3419856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1"/>
          <p:cNvSpPr/>
          <p:nvPr/>
        </p:nvSpPr>
        <p:spPr>
          <a:xfrm>
            <a:off x="6473952" y="33741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 &amp; Contact in footer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6208" y="4032504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Text 13"/>
          <p:cNvSpPr/>
          <p:nvPr/>
        </p:nvSpPr>
        <p:spPr>
          <a:xfrm>
            <a:off x="6473952" y="3986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dark-themed design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36208" y="4617720"/>
            <a:ext cx="2468880" cy="0"/>
          </a:xfrm>
          <a:prstGeom prst="line">
            <a:avLst/>
          </a:prstGeom>
          <a:noFill/>
          <a:ln w="12700">
            <a:solidFill>
              <a:srgbClr val="1E30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36208" y="4681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localhost/fresh_food_mgmt/index.php</a:t>
            </a:r>
            <a:endParaRPr lang="en-US" sz="95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INTERFACE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Screen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7436"/>
            <a:ext cx="5349240" cy="3354487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two-field login form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authentication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 to registration page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branded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card layout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site-wide navigation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Validation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7436"/>
            <a:ext cx="5349240" cy="3354487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required-field checks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highlight on empty inputs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text per field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incomplete submissions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before submit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to correct entry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Form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7436"/>
            <a:ext cx="5349240" cy="3354487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email &amp; password fields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selector: Farmer, Sales, Transporter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Location capture field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minimum length hint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back to login page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signup flow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Error Handling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7436"/>
            <a:ext cx="5349240" cy="3354487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correct email format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6-character password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inline error text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valid entries on error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bad data submission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red error styling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Success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7436"/>
            <a:ext cx="5349240" cy="3354487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confirmation banner shown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redirect to login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reset automatically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account was created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handoff to sign-in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onboarding experience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Control Centre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5349240" cy="365760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display on welcome banner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&amp; notifications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manage incoming orders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produce with price &amp; type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inventory with stock levels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3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transporter display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Marketplace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Listings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64208"/>
            <a:ext cx="4160520" cy="228600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663440" y="13258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Reviews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64208"/>
            <a:ext cx="4160520" cy="228600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320040" y="409651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111D13"/>
          </a:solidFill>
          <a:ln w="12700">
            <a:solidFill>
              <a:srgbClr val="00BCD4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7"/>
          <p:cNvSpPr/>
          <p:nvPr/>
        </p:nvSpPr>
        <p:spPr>
          <a:xfrm>
            <a:off x="429768" y="4206240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3" y="4313225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8408" y="4187952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crop, type &amp; city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487168" y="409651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111D13"/>
          </a:solidFill>
          <a:ln w="12700">
            <a:solidFill>
              <a:srgbClr val="1A4A6A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Shape 10"/>
          <p:cNvSpPr/>
          <p:nvPr/>
        </p:nvSpPr>
        <p:spPr>
          <a:xfrm>
            <a:off x="2596896" y="4206240"/>
            <a:ext cx="475488" cy="475488"/>
          </a:xfrm>
          <a:prstGeom prst="ellipse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3881" y="4313225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45536" y="4187952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orders with quantity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654296" y="409651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111D13"/>
          </a:solidFill>
          <a:ln w="12700">
            <a:solidFill>
              <a:srgbClr val="5A3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3"/>
          <p:cNvSpPr/>
          <p:nvPr/>
        </p:nvSpPr>
        <p:spPr>
          <a:xfrm>
            <a:off x="4764024" y="4206240"/>
            <a:ext cx="475488" cy="475488"/>
          </a:xfrm>
          <a:prstGeom prst="ellipse">
            <a:avLst/>
          </a:prstGeom>
          <a:solidFill>
            <a:srgbClr val="5A3A00"/>
          </a:solidFill>
          <a:ln w="12700">
            <a:solidFill>
              <a:srgbClr val="5A3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009" y="4313225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12664" y="4187952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delivery notifications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821424" y="4096512"/>
            <a:ext cx="2029968" cy="914400"/>
          </a:xfrm>
          <a:prstGeom prst="roundRect">
            <a:avLst>
              <a:gd name="adj" fmla="val 10000"/>
            </a:avLst>
          </a:prstGeom>
          <a:solidFill>
            <a:srgbClr val="111D13"/>
          </a:solidFill>
          <a:ln w="12700">
            <a:solidFill>
              <a:srgbClr val="5A002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16"/>
          <p:cNvSpPr/>
          <p:nvPr/>
        </p:nvSpPr>
        <p:spPr>
          <a:xfrm>
            <a:off x="6931152" y="4206240"/>
            <a:ext cx="475488" cy="475488"/>
          </a:xfrm>
          <a:prstGeom prst="ellipse">
            <a:avLst/>
          </a:prstGeom>
          <a:solidFill>
            <a:srgbClr val="5A0020"/>
          </a:solidFill>
          <a:ln w="12700">
            <a:solidFill>
              <a:srgbClr val="5A0020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137" y="4313225"/>
            <a:ext cx="261518" cy="26151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79792" y="4187952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&amp; comments</a:t>
            </a:r>
            <a:endParaRPr lang="en-US" sz="105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F6D00">
              <a:alpha val="10000"/>
            </a:srgbClr>
          </a:solidFill>
          <a:ln w="12700">
            <a:solidFill>
              <a:srgbClr val="FF6D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Transporter Control Centre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5349240" cy="365760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2A1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Shape 5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6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covered service areas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2A1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8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coverage cities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2A1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1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2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delivery queue with routes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2A1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4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delivery status live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2A1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7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8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auto-matched job alerts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06440" y="41330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2A1A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0"/>
          <p:cNvSpPr/>
          <p:nvPr/>
        </p:nvSpPr>
        <p:spPr>
          <a:xfrm>
            <a:off x="5961888" y="427939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1"/>
          <p:cNvSpPr/>
          <p:nvPr/>
        </p:nvSpPr>
        <p:spPr>
          <a:xfrm>
            <a:off x="6217920" y="41970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visible on profile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Settings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5349240" cy="2926080"/>
          </a:xfrm>
          <a:prstGeom prst="rect">
            <a:avLst/>
          </a:prstGeom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06440" y="138988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0A2A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7" name="Shape 4"/>
          <p:cNvSpPr/>
          <p:nvPr/>
        </p:nvSpPr>
        <p:spPr>
          <a:xfrm>
            <a:off x="5961888" y="1536192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5"/>
          <p:cNvSpPr/>
          <p:nvPr/>
        </p:nvSpPr>
        <p:spPr>
          <a:xfrm>
            <a:off x="6217920" y="1453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full name &amp; location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93852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0A2A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Shape 7"/>
          <p:cNvSpPr/>
          <p:nvPr/>
        </p:nvSpPr>
        <p:spPr>
          <a:xfrm>
            <a:off x="5961888" y="2084832"/>
            <a:ext cx="164592" cy="164592"/>
          </a:xfrm>
          <a:prstGeom prst="ellipse">
            <a:avLst/>
          </a:prstGeom>
          <a:solidFill>
            <a:srgbClr val="F50057"/>
          </a:solidFill>
          <a:ln w="12700">
            <a:solidFill>
              <a:srgbClr val="F5005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8"/>
          <p:cNvSpPr/>
          <p:nvPr/>
        </p:nvSpPr>
        <p:spPr>
          <a:xfrm>
            <a:off x="6217920" y="2002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read-only for security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248716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0A2A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Shape 10"/>
          <p:cNvSpPr/>
          <p:nvPr/>
        </p:nvSpPr>
        <p:spPr>
          <a:xfrm>
            <a:off x="5961888" y="263347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1"/>
          <p:cNvSpPr/>
          <p:nvPr/>
        </p:nvSpPr>
        <p:spPr>
          <a:xfrm>
            <a:off x="6217920" y="2551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change flow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06440" y="303580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0A2A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6" name="Shape 13"/>
          <p:cNvSpPr/>
          <p:nvPr/>
        </p:nvSpPr>
        <p:spPr>
          <a:xfrm>
            <a:off x="5961888" y="3182112"/>
            <a:ext cx="164592" cy="164592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4"/>
          <p:cNvSpPr/>
          <p:nvPr/>
        </p:nvSpPr>
        <p:spPr>
          <a:xfrm>
            <a:off x="6217920" y="3099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new password field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06440" y="3584448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11D13"/>
          </a:solidFill>
          <a:ln w="12700">
            <a:solidFill>
              <a:srgbClr val="1E0A2A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9" name="Shape 16"/>
          <p:cNvSpPr/>
          <p:nvPr/>
        </p:nvSpPr>
        <p:spPr>
          <a:xfrm>
            <a:off x="5961888" y="373075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0" name="Text 17"/>
          <p:cNvSpPr/>
          <p:nvPr/>
        </p:nvSpPr>
        <p:spPr>
          <a:xfrm>
            <a:off x="6217920" y="36484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logout button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00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0040" y="466344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3" name="Text 20"/>
          <p:cNvSpPr/>
          <p:nvPr/>
        </p:nvSpPr>
        <p:spPr>
          <a:xfrm>
            <a:off x="320040" y="4663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 •  Backend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487168" y="466344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00BCD4">
              <a:alpha val="2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5" name="Text 22"/>
          <p:cNvSpPr/>
          <p:nvPr/>
        </p:nvSpPr>
        <p:spPr>
          <a:xfrm>
            <a:off x="2487168" y="4663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Database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54296" y="466344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FF6D00">
              <a:alpha val="25000"/>
            </a:srgbClr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7" name="Text 24"/>
          <p:cNvSpPr/>
          <p:nvPr/>
        </p:nvSpPr>
        <p:spPr>
          <a:xfrm>
            <a:off x="4654296" y="4663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 •  Frontend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821424" y="4663440"/>
            <a:ext cx="2029968" cy="347472"/>
          </a:xfrm>
          <a:prstGeom prst="roundRect">
            <a:avLst>
              <a:gd name="adj" fmla="val 21053"/>
            </a:avLst>
          </a:prstGeom>
          <a:solidFill>
            <a:srgbClr val="00C853">
              <a:alpha val="25000"/>
            </a:srgbClr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9" name="Text 26"/>
          <p:cNvSpPr/>
          <p:nvPr/>
        </p:nvSpPr>
        <p:spPr>
          <a:xfrm>
            <a:off x="6821424" y="46634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 •  Local Server</a:t>
            </a:r>
            <a:endParaRPr lang="en-US" sz="105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  <a:effectLst>
            <a:outerShdw blurRad="190500" dist="508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Shape 4"/>
          <p:cNvSpPr/>
          <p:nvPr/>
        </p:nvSpPr>
        <p:spPr>
          <a:xfrm>
            <a:off x="1737360" y="1444752"/>
            <a:ext cx="457200" cy="457200"/>
          </a:xfrm>
          <a:prstGeom prst="ellipse">
            <a:avLst/>
          </a:prstGeom>
          <a:solidFill>
            <a:srgbClr val="0A0F0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173736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8191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94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Produce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5E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added with price, type &amp; quantity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86000" y="21031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50592" y="1389888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A4A6A"/>
          </a:solidFill>
          <a:ln w="12700">
            <a:solidFill>
              <a:srgbClr val="FFFFFF"/>
            </a:solidFill>
            <a:prstDash val="solid"/>
          </a:ln>
          <a:effectLst>
            <a:outerShdw blurRad="190500" dist="508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Shape 10"/>
          <p:cNvSpPr/>
          <p:nvPr/>
        </p:nvSpPr>
        <p:spPr>
          <a:xfrm>
            <a:off x="3913632" y="1444752"/>
            <a:ext cx="457200" cy="457200"/>
          </a:xfrm>
          <a:prstGeom prst="ellipse">
            <a:avLst/>
          </a:prstGeom>
          <a:solidFill>
            <a:srgbClr val="0A0F0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1"/>
          <p:cNvSpPr/>
          <p:nvPr/>
        </p:nvSpPr>
        <p:spPr>
          <a:xfrm>
            <a:off x="391363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1581912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2194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Order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4203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5E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person selects quantity &amp; books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462272" y="21031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26864" y="1389888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2A4A10"/>
          </a:solidFill>
          <a:ln w="12700">
            <a:solidFill>
              <a:srgbClr val="FFFFFF"/>
            </a:solidFill>
            <a:prstDash val="solid"/>
          </a:ln>
          <a:effectLst>
            <a:outerShdw blurRad="190500" dist="508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6"/>
          <p:cNvSpPr/>
          <p:nvPr/>
        </p:nvSpPr>
        <p:spPr>
          <a:xfrm>
            <a:off x="6089904" y="1444752"/>
            <a:ext cx="457200" cy="457200"/>
          </a:xfrm>
          <a:prstGeom prst="ellipse">
            <a:avLst/>
          </a:prstGeom>
          <a:solidFill>
            <a:srgbClr val="0A0F0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7"/>
          <p:cNvSpPr/>
          <p:nvPr/>
        </p:nvSpPr>
        <p:spPr>
          <a:xfrm>
            <a:off x="6089904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81912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18304" y="2194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Order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18304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5E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reviews &amp; accepts the request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638544" y="21031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803136" y="1389888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4A2200"/>
          </a:solidFill>
          <a:ln w="12700">
            <a:solidFill>
              <a:srgbClr val="FFFFFF"/>
            </a:solidFill>
            <a:prstDash val="solid"/>
          </a:ln>
          <a:effectLst>
            <a:outerShdw blurRad="190500" dist="508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7" name="Shape 22"/>
          <p:cNvSpPr/>
          <p:nvPr/>
        </p:nvSpPr>
        <p:spPr>
          <a:xfrm>
            <a:off x="8266176" y="1444752"/>
            <a:ext cx="457200" cy="457200"/>
          </a:xfrm>
          <a:prstGeom prst="ellipse">
            <a:avLst/>
          </a:prstGeom>
          <a:solidFill>
            <a:srgbClr val="0A0F0A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8" name="Text 23"/>
          <p:cNvSpPr/>
          <p:nvPr/>
        </p:nvSpPr>
        <p:spPr>
          <a:xfrm>
            <a:off x="8266176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1581912"/>
            <a:ext cx="530352" cy="5303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94576" y="2194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894576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5E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Auto-matched driver picks up &amp; delivers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74320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11D13"/>
          </a:solidFill>
          <a:ln w="12700">
            <a:solidFill>
              <a:srgbClr val="00C853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3" name="Text 27"/>
          <p:cNvSpPr/>
          <p:nvPr/>
        </p:nvSpPr>
        <p:spPr>
          <a:xfrm>
            <a:off x="384048" y="34015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Sent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384048" y="3685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parties alerted automatically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1280160" y="3218688"/>
            <a:ext cx="0" cy="118872"/>
          </a:xfrm>
          <a:prstGeom prst="line">
            <a:avLst/>
          </a:prstGeom>
          <a:noFill/>
          <a:ln w="19050">
            <a:solidFill>
              <a:srgbClr val="00C853"/>
            </a:solidFill>
            <a:prstDash val="dash"/>
          </a:ln>
        </p:spPr>
        <p:txBody>
          <a:bodyPr/>
          <a:lstStyle/>
          <a:p>
            <a:endParaRPr lang="en-LK"/>
          </a:p>
        </p:txBody>
      </p:sp>
      <p:sp>
        <p:nvSpPr>
          <p:cNvPr id="36" name="Shape 30"/>
          <p:cNvSpPr/>
          <p:nvPr/>
        </p:nvSpPr>
        <p:spPr>
          <a:xfrm>
            <a:off x="2450592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11D13"/>
          </a:solidFill>
          <a:ln w="12700">
            <a:solidFill>
              <a:srgbClr val="00BCD4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7" name="Text 31"/>
          <p:cNvSpPr/>
          <p:nvPr/>
        </p:nvSpPr>
        <p:spPr>
          <a:xfrm>
            <a:off x="2560320" y="34015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Live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2560320" y="3685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 marks in-transit / done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456432" y="3218688"/>
            <a:ext cx="0" cy="118872"/>
          </a:xfrm>
          <a:prstGeom prst="line">
            <a:avLst/>
          </a:prstGeom>
          <a:noFill/>
          <a:ln w="19050">
            <a:solidFill>
              <a:srgbClr val="00C853"/>
            </a:solidFill>
            <a:prstDash val="dash"/>
          </a:ln>
        </p:spPr>
        <p:txBody>
          <a:bodyPr/>
          <a:lstStyle/>
          <a:p>
            <a:endParaRPr lang="en-LK"/>
          </a:p>
        </p:txBody>
      </p:sp>
      <p:sp>
        <p:nvSpPr>
          <p:cNvPr id="40" name="Shape 34"/>
          <p:cNvSpPr/>
          <p:nvPr/>
        </p:nvSpPr>
        <p:spPr>
          <a:xfrm>
            <a:off x="4626864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11D13"/>
          </a:solidFill>
          <a:ln w="12700">
            <a:solidFill>
              <a:srgbClr val="FFD74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1" name="Text 35"/>
          <p:cNvSpPr/>
          <p:nvPr/>
        </p:nvSpPr>
        <p:spPr>
          <a:xfrm>
            <a:off x="4736592" y="34015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Leaves Review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736592" y="3685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&amp; comment submitted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632704" y="3218688"/>
            <a:ext cx="0" cy="118872"/>
          </a:xfrm>
          <a:prstGeom prst="line">
            <a:avLst/>
          </a:prstGeom>
          <a:noFill/>
          <a:ln w="19050">
            <a:solidFill>
              <a:srgbClr val="00C853"/>
            </a:solidFill>
            <a:prstDash val="dash"/>
          </a:ln>
        </p:spPr>
        <p:txBody>
          <a:bodyPr/>
          <a:lstStyle/>
          <a:p>
            <a:endParaRPr lang="en-LK"/>
          </a:p>
        </p:txBody>
      </p:sp>
      <p:sp>
        <p:nvSpPr>
          <p:cNvPr id="44" name="Shape 38"/>
          <p:cNvSpPr/>
          <p:nvPr/>
        </p:nvSpPr>
        <p:spPr>
          <a:xfrm>
            <a:off x="6803136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11D13"/>
          </a:solidFill>
          <a:ln w="12700">
            <a:solidFill>
              <a:srgbClr val="FFAB4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5" name="Text 39"/>
          <p:cNvSpPr/>
          <p:nvPr/>
        </p:nvSpPr>
        <p:spPr>
          <a:xfrm>
            <a:off x="6912864" y="34015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Rating Updated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6912864" y="36850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score reflected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7808976" y="3218688"/>
            <a:ext cx="0" cy="118872"/>
          </a:xfrm>
          <a:prstGeom prst="line">
            <a:avLst/>
          </a:prstGeom>
          <a:noFill/>
          <a:ln w="19050">
            <a:solidFill>
              <a:srgbClr val="00C853"/>
            </a:solidFill>
            <a:prstDash val="dash"/>
          </a:ln>
        </p:spPr>
        <p:txBody>
          <a:bodyPr/>
          <a:lstStyle/>
          <a:p>
            <a:endParaRPr lang="en-LK"/>
          </a:p>
        </p:txBody>
      </p:sp>
      <p:sp>
        <p:nvSpPr>
          <p:cNvPr id="48" name="Text 42"/>
          <p:cNvSpPr/>
          <p:nvPr/>
        </p:nvSpPr>
        <p:spPr>
          <a:xfrm>
            <a:off x="274320" y="433425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triggers automatic notifications to all involved parties in real time</a:t>
            </a:r>
            <a:endParaRPr lang="en-US" sz="11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2286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 w="12700">
            <a:solidFill>
              <a:srgbClr val="4CAF50"/>
            </a:solidFill>
          </a:ln>
        </p:spPr>
        <p:txBody>
          <a:bodyPr/>
          <a:lstStyle/>
          <a:p>
            <a:endParaRPr lang="en-LK"/>
          </a:p>
        </p:txBody>
      </p:sp>
      <p:sp>
        <p:nvSpPr>
          <p:cNvPr id="3" name="BadgeText"/>
          <p:cNvSpPr/>
          <p:nvPr/>
        </p:nvSpPr>
        <p:spPr>
          <a:xfrm>
            <a:off x="365760" y="228600"/>
            <a:ext cx="2560320" cy="384048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742950"/>
            <a:ext cx="2286000" cy="4572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ER Diagram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1096951"/>
            <a:ext cx="2286000" cy="342900"/>
          </a:xfrm>
          <a:prstGeom prst="rect">
            <a:avLst/>
          </a:prstGeom>
          <a:noFill/>
        </p:spPr>
        <p:txBody>
          <a:bodyPr lIns="91440" tIns="45720" rIns="91440" bIns="45720" anchor="ctr"/>
          <a:lstStyle/>
          <a:p>
            <a:r>
              <a:rPr lang="en-US" sz="1400">
                <a:solidFill>
                  <a:srgbClr val="9E9E9E"/>
                </a:solidFill>
              </a:rPr>
              <a:t>6 tables · 5 relationships </a:t>
            </a:r>
          </a:p>
        </p:txBody>
      </p:sp>
      <p:sp>
        <p:nvSpPr>
          <p:cNvPr id="10" name="Card1"/>
          <p:cNvSpPr/>
          <p:nvPr/>
        </p:nvSpPr>
        <p:spPr>
          <a:xfrm>
            <a:off x="365760" y="18288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A2A1A"/>
          </a:solidFill>
          <a:ln w="19050">
            <a:solidFill>
              <a:srgbClr val="4CAF50"/>
            </a:solidFill>
          </a:ln>
        </p:spPr>
        <p:txBody>
          <a:bodyPr lIns="91440" anchor="ctr"/>
          <a:lstStyle/>
          <a:p>
            <a:r>
              <a:rPr lang="en-US" sz="1200" b="1" dirty="0">
                <a:solidFill>
                  <a:srgbClr val="4CAF50"/>
                </a:solidFill>
              </a:rPr>
              <a:t>users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Farmer · Sales · Transporter · Admin</a:t>
            </a:r>
          </a:p>
        </p:txBody>
      </p:sp>
      <p:sp>
        <p:nvSpPr>
          <p:cNvPr id="11" name="Card2"/>
          <p:cNvSpPr/>
          <p:nvPr/>
        </p:nvSpPr>
        <p:spPr>
          <a:xfrm>
            <a:off x="365760" y="23427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A2A1A"/>
          </a:solidFill>
          <a:ln w="19050">
            <a:solidFill>
              <a:srgbClr val="FF7043"/>
            </a:solidFill>
          </a:ln>
        </p:spPr>
        <p:txBody>
          <a:bodyPr lIns="91440" anchor="ctr"/>
          <a:lstStyle/>
          <a:p>
            <a:r>
              <a:rPr lang="en-US" sz="1200" b="1" dirty="0">
                <a:solidFill>
                  <a:srgbClr val="FF7043"/>
                </a:solidFill>
              </a:rPr>
              <a:t>food_listings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Produce listings by farmers</a:t>
            </a:r>
          </a:p>
        </p:txBody>
      </p:sp>
      <p:sp>
        <p:nvSpPr>
          <p:cNvPr id="12" name="Card3"/>
          <p:cNvSpPr/>
          <p:nvPr/>
        </p:nvSpPr>
        <p:spPr>
          <a:xfrm>
            <a:off x="365760" y="28566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A2A1A"/>
          </a:solidFill>
          <a:ln w="19050">
            <a:solidFill>
              <a:srgbClr val="FFAB40"/>
            </a:solidFill>
          </a:ln>
        </p:spPr>
        <p:txBody>
          <a:bodyPr lIns="91440" anchor="ctr"/>
          <a:lstStyle/>
          <a:p>
            <a:r>
              <a:rPr lang="en-US" sz="1200" b="1" dirty="0">
                <a:solidFill>
                  <a:srgbClr val="FFAB40"/>
                </a:solidFill>
              </a:rPr>
              <a:t>orders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Sales orders with transporter</a:t>
            </a:r>
          </a:p>
        </p:txBody>
      </p:sp>
      <p:sp>
        <p:nvSpPr>
          <p:cNvPr id="13" name="Card4"/>
          <p:cNvSpPr/>
          <p:nvPr/>
        </p:nvSpPr>
        <p:spPr>
          <a:xfrm>
            <a:off x="365760" y="33705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A2A1A"/>
          </a:solidFill>
          <a:ln w="19050">
            <a:solidFill>
              <a:srgbClr val="7C4DFF"/>
            </a:solidFill>
          </a:ln>
        </p:spPr>
        <p:txBody>
          <a:bodyPr lIns="91440" anchor="ctr"/>
          <a:lstStyle/>
          <a:p>
            <a:r>
              <a:rPr lang="en-US" sz="1200" b="1" dirty="0">
                <a:solidFill>
                  <a:srgbClr val="7C4DFF"/>
                </a:solidFill>
              </a:rPr>
              <a:t>notifications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Real-time user alerts</a:t>
            </a:r>
          </a:p>
        </p:txBody>
      </p:sp>
      <p:sp>
        <p:nvSpPr>
          <p:cNvPr id="14" name="Card5"/>
          <p:cNvSpPr/>
          <p:nvPr/>
        </p:nvSpPr>
        <p:spPr>
          <a:xfrm>
            <a:off x="365760" y="38844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A2A1A"/>
          </a:solidFill>
          <a:ln w="19050">
            <a:solidFill>
              <a:srgbClr val="26C6DA"/>
            </a:solidFill>
          </a:ln>
        </p:spPr>
        <p:txBody>
          <a:bodyPr lIns="91440" anchor="ctr"/>
          <a:lstStyle/>
          <a:p>
            <a:r>
              <a:rPr lang="en-US" sz="1200" b="1" dirty="0">
                <a:solidFill>
                  <a:srgbClr val="26C6DA"/>
                </a:solidFill>
              </a:rPr>
              <a:t>ratings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Post-delivery star reviews</a:t>
            </a:r>
          </a:p>
        </p:txBody>
      </p:sp>
      <p:sp>
        <p:nvSpPr>
          <p:cNvPr id="15" name="Card6"/>
          <p:cNvSpPr/>
          <p:nvPr/>
        </p:nvSpPr>
        <p:spPr>
          <a:xfrm>
            <a:off x="365760" y="43983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A2A1A"/>
          </a:solidFill>
          <a:ln w="19050">
            <a:solidFill>
              <a:srgbClr val="29B6F6"/>
            </a:solidFill>
          </a:ln>
        </p:spPr>
        <p:txBody>
          <a:bodyPr lIns="91440" anchor="ctr"/>
          <a:lstStyle/>
          <a:p>
            <a:r>
              <a:rPr lang="en-US" sz="1200" b="1" dirty="0">
                <a:solidFill>
                  <a:srgbClr val="29B6F6"/>
                </a:solidFill>
              </a:rPr>
              <a:t>transporter_service_areas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Coverage city mapping</a:t>
            </a:r>
          </a:p>
        </p:txBody>
      </p:sp>
      <p:pic>
        <p:nvPicPr>
          <p:cNvPr id="20" name="ERD"/>
          <p:cNvPicPr/>
          <p:nvPr/>
        </p:nvPicPr>
        <p:blipFill>
          <a:blip r:embed="rId2"/>
          <a:stretch>
            <a:fillRect/>
          </a:stretch>
        </p:blipFill>
        <p:spPr>
          <a:xfrm>
            <a:off x="2743200" y="571500"/>
            <a:ext cx="6172800" cy="45717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65760" y="228600"/>
            <a:ext cx="2286000" cy="3429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 w="12700">
            <a:solidFill>
              <a:srgbClr val="FFAB40"/>
            </a:solidFill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0A0F0A"/>
                </a:solidFill>
              </a:rPr>
              <a:t>REFERENCES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685800"/>
            <a:ext cx="8229600" cy="685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600" b="1" dirty="0">
                <a:solidFill>
                  <a:srgbClr val="FFFFFF"/>
                </a:solidFill>
              </a:rPr>
              <a:t>References &amp; Resources</a:t>
            </a:r>
          </a:p>
        </p:txBody>
      </p:sp>
      <p:sp>
        <p:nvSpPr>
          <p:cNvPr id="4" name="LeftRefs"/>
          <p:cNvSpPr/>
          <p:nvPr/>
        </p:nvSpPr>
        <p:spPr>
          <a:xfrm>
            <a:off x="365760" y="1542600"/>
            <a:ext cx="4114800" cy="3200400"/>
          </a:xfrm>
          <a:prstGeom prst="roundRect">
            <a:avLst>
              <a:gd name="adj" fmla="val 4000"/>
            </a:avLst>
          </a:prstGeom>
          <a:solidFill>
            <a:srgbClr val="111A11"/>
          </a:solidFill>
          <a:ln w="12700">
            <a:solidFill>
              <a:srgbClr val="2A3A2A"/>
            </a:solidFill>
          </a:ln>
        </p:spPr>
        <p:txBody>
          <a:bodyPr wrap="square" lIns="182880" tIns="182880" rIns="182880" bIns="182880"/>
          <a:lstStyle/>
          <a:p>
            <a:r>
              <a:rPr lang="en-US" sz="1100" b="1" dirty="0">
                <a:solidFill>
                  <a:srgbClr val="FFAB40"/>
                </a:solidFill>
              </a:rPr>
              <a:t>[1] PHP Official Documentation</a:t>
            </a:r>
          </a:p>
          <a:p>
            <a:r>
              <a:rPr lang="en-US" sz="1000" dirty="0">
                <a:solidFill>
                  <a:srgbClr val="9E9E9E"/>
                </a:solidFill>
              </a:rPr>
              <a:t>https://www.php.net/docs.php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FFAB40"/>
                </a:solidFill>
              </a:rPr>
              <a:t>[2] MySQL </a:t>
            </a:r>
          </a:p>
          <a:p>
            <a:r>
              <a:rPr lang="en-US" sz="1000" dirty="0">
                <a:solidFill>
                  <a:srgbClr val="9E9E9E"/>
                </a:solidFill>
              </a:rPr>
              <a:t>https://mariadb.com/kb/en/documentation/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FFAB40"/>
                </a:solidFill>
              </a:rPr>
              <a:t>[3] XAMPP Documentation</a:t>
            </a:r>
          </a:p>
          <a:p>
            <a:r>
              <a:rPr lang="en-US" sz="1000" dirty="0">
                <a:solidFill>
                  <a:srgbClr val="9E9E9E"/>
                </a:solidFill>
              </a:rPr>
              <a:t>https://www.apachefriends.org/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FFAB40"/>
                </a:solidFill>
              </a:rPr>
              <a:t>[4] phpMyAdmin Documentation</a:t>
            </a:r>
          </a:p>
          <a:p>
            <a:r>
              <a:rPr lang="en-US" sz="1000" dirty="0">
                <a:solidFill>
                  <a:srgbClr val="9E9E9E"/>
                </a:solidFill>
              </a:rPr>
              <a:t>https://www.phpmyadmin.net/docs/</a:t>
            </a:r>
          </a:p>
        </p:txBody>
      </p:sp>
      <p:sp>
        <p:nvSpPr>
          <p:cNvPr id="5" name="RightRefs"/>
          <p:cNvSpPr/>
          <p:nvPr/>
        </p:nvSpPr>
        <p:spPr>
          <a:xfrm>
            <a:off x="4708560" y="1542600"/>
            <a:ext cx="4114800" cy="3200400"/>
          </a:xfrm>
          <a:prstGeom prst="roundRect">
            <a:avLst>
              <a:gd name="adj" fmla="val 4000"/>
            </a:avLst>
          </a:prstGeom>
          <a:solidFill>
            <a:srgbClr val="111A11"/>
          </a:solidFill>
          <a:ln w="12700">
            <a:solidFill>
              <a:srgbClr val="2A3A2A"/>
            </a:solidFill>
          </a:ln>
        </p:spPr>
        <p:txBody>
          <a:bodyPr wrap="square" lIns="182880" tIns="182880" rIns="182880" bIns="182880" anchor="t"/>
          <a:lstStyle/>
          <a:p>
            <a:r>
              <a:rPr lang="en-US" sz="1100" b="1" dirty="0">
                <a:solidFill>
                  <a:srgbClr val="FFAB40"/>
                </a:solidFill>
              </a:rPr>
              <a:t>[5] HTML5 / CSS3 Standards (MDN)</a:t>
            </a:r>
          </a:p>
          <a:p>
            <a:r>
              <a:rPr lang="en-US" sz="1000" dirty="0">
                <a:solidFill>
                  <a:srgbClr val="9E9E9E"/>
                </a:solidFill>
              </a:rPr>
              <a:t>https://developer.mozilla.org/</a:t>
            </a:r>
          </a:p>
          <a:p>
            <a:endParaRPr lang="en-US" sz="1000"/>
          </a:p>
          <a:p>
            <a:r>
              <a:rPr lang="en-US" sz="1100" b="1" dirty="0">
                <a:solidFill>
                  <a:srgbClr val="FFAB40"/>
                </a:solidFill>
              </a:rPr>
              <a:t>[6] University of Kelaniya — COSC 31103</a:t>
            </a:r>
          </a:p>
          <a:p>
            <a:r>
              <a:rPr lang="en-US" sz="1000" dirty="0">
                <a:solidFill>
                  <a:srgbClr val="9E9E9E"/>
                </a:solidFill>
              </a:rPr>
              <a:t>Web &amp; Internet Technologies — Course Material</a:t>
            </a:r>
          </a:p>
          <a:p>
            <a:endParaRPr lang="en-US" sz="1000"/>
          </a:p>
          <a:p>
            <a:r>
              <a:rPr lang="en-US" sz="1100" b="1" dirty="0">
                <a:solidFill>
                  <a:srgbClr val="FFAB40"/>
                </a:solidFill>
              </a:rPr>
              <a:t>[7] W3Schools PHP &amp; MySQL Tutorials</a:t>
            </a:r>
          </a:p>
          <a:p>
            <a:r>
              <a:rPr lang="en-US" sz="1000" dirty="0">
                <a:solidFill>
                  <a:srgbClr val="9E9E9E"/>
                </a:solidFill>
              </a:rPr>
              <a:t>https://www.w3schools.com/php/</a:t>
            </a:r>
          </a:p>
          <a:p>
            <a:endParaRPr lang="en-US" sz="1000" dirty="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C853">
              <a:alpha val="13000"/>
            </a:srgbClr>
          </a:solidFill>
          <a:ln w="12700">
            <a:solidFill>
              <a:srgbClr val="00C853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F6D00">
              <a:alpha val="12000"/>
            </a:srgbClr>
          </a:solidFill>
          <a:ln w="12700">
            <a:solidFill>
              <a:srgbClr val="FF6D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4114800" y="-914400"/>
            <a:ext cx="2743200" cy="2743200"/>
          </a:xfrm>
          <a:prstGeom prst="ellipse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4183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347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Ceylon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412480" cy="1280160"/>
          </a:xfrm>
          <a:prstGeom prst="rect">
            <a:avLst/>
          </a:prstGeom>
          <a:noFill/>
          <a:ln/>
          <a:effectLst>
            <a:outerShdw blurRad="317500" dist="50800" dir="2700000" algn="bl" rotWithShape="0">
              <a:srgbClr val="00C853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36576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built to empower Sri Lanka's farming community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connecting farmers, buyers, and transporters on one reliable system.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" y="3337560"/>
            <a:ext cx="1609344" cy="475488"/>
          </a:xfrm>
          <a:prstGeom prst="roundRect">
            <a:avLst>
              <a:gd name="adj" fmla="val 50000"/>
            </a:avLst>
          </a:prstGeom>
          <a:solidFill>
            <a:srgbClr val="00C853">
              <a:alpha val="25000"/>
            </a:srgbClr>
          </a:solidFill>
          <a:ln w="12700">
            <a:solidFill>
              <a:srgbClr val="00C853"/>
            </a:solidFill>
            <a:prstDash val="solid"/>
          </a:ln>
          <a:effectLst>
            <a:outerShdw blurRad="127000" dist="50800" dir="2700000" algn="bl" rotWithShape="0">
              <a:srgbClr val="00C853">
                <a:alpha val="4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9"/>
          <p:cNvSpPr/>
          <p:nvPr/>
        </p:nvSpPr>
        <p:spPr>
          <a:xfrm>
            <a:off x="320040" y="333756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Food Waste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39112" y="3337560"/>
            <a:ext cx="1609344" cy="475488"/>
          </a:xfrm>
          <a:prstGeom prst="roundRect">
            <a:avLst>
              <a:gd name="adj" fmla="val 50000"/>
            </a:avLst>
          </a:prstGeom>
          <a:solidFill>
            <a:srgbClr val="00BCD4">
              <a:alpha val="25000"/>
            </a:srgbClr>
          </a:solidFill>
          <a:ln w="12700">
            <a:solidFill>
              <a:srgbClr val="00BCD4"/>
            </a:solidFill>
            <a:prstDash val="solid"/>
          </a:ln>
          <a:effectLst>
            <a:outerShdw blurRad="127000" dist="50800" dir="2700000" algn="bl" rotWithShape="0">
              <a:srgbClr val="00BCD4">
                <a:alpha val="4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1"/>
          <p:cNvSpPr/>
          <p:nvPr/>
        </p:nvSpPr>
        <p:spPr>
          <a:xfrm>
            <a:off x="2039112" y="333756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58184" y="3337560"/>
            <a:ext cx="1609344" cy="475488"/>
          </a:xfrm>
          <a:prstGeom prst="roundRect">
            <a:avLst>
              <a:gd name="adj" fmla="val 50000"/>
            </a:avLst>
          </a:prstGeom>
          <a:solidFill>
            <a:srgbClr val="FF6D00">
              <a:alpha val="25000"/>
            </a:srgbClr>
          </a:solidFill>
          <a:ln w="12700">
            <a:solidFill>
              <a:srgbClr val="FF6D00"/>
            </a:solidFill>
            <a:prstDash val="solid"/>
          </a:ln>
          <a:effectLst>
            <a:outerShdw blurRad="127000" dist="50800" dir="2700000" algn="bl" rotWithShape="0">
              <a:srgbClr val="FF6D00">
                <a:alpha val="4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6" name="Text 13"/>
          <p:cNvSpPr/>
          <p:nvPr/>
        </p:nvSpPr>
        <p:spPr>
          <a:xfrm>
            <a:off x="3758184" y="333756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Transport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77256" y="3337560"/>
            <a:ext cx="1609344" cy="475488"/>
          </a:xfrm>
          <a:prstGeom prst="roundRect">
            <a:avLst>
              <a:gd name="adj" fmla="val 50000"/>
            </a:avLst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  <a:effectLst>
            <a:outerShdw blurRad="127000" dist="50800" dir="2700000" algn="bl" rotWithShape="0">
              <a:srgbClr val="7C4DFF">
                <a:alpha val="4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8" name="Text 15"/>
          <p:cNvSpPr/>
          <p:nvPr/>
        </p:nvSpPr>
        <p:spPr>
          <a:xfrm>
            <a:off x="5477256" y="333756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96328" y="3337560"/>
            <a:ext cx="1609344" cy="475488"/>
          </a:xfrm>
          <a:prstGeom prst="roundRect">
            <a:avLst>
              <a:gd name="adj" fmla="val 50000"/>
            </a:avLst>
          </a:prstGeom>
          <a:solidFill>
            <a:srgbClr val="F50057">
              <a:alpha val="25000"/>
            </a:srgbClr>
          </a:solidFill>
          <a:ln w="12700">
            <a:solidFill>
              <a:srgbClr val="F50057"/>
            </a:solidFill>
            <a:prstDash val="solid"/>
          </a:ln>
          <a:effectLst>
            <a:outerShdw blurRad="127000" dist="50800" dir="2700000" algn="bl" rotWithShape="0">
              <a:srgbClr val="F50057">
                <a:alpha val="45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Text 17"/>
          <p:cNvSpPr/>
          <p:nvPr/>
        </p:nvSpPr>
        <p:spPr>
          <a:xfrm>
            <a:off x="7196328" y="333756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Ratings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400507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0D1A0D"/>
          </a:solidFill>
          <a:ln w="12700">
            <a:solidFill>
              <a:srgbClr val="00C853"/>
            </a:solidFill>
            <a:prstDash val="solid"/>
          </a:ln>
          <a:effectLst>
            <a:outerShdw blurRad="152400" dist="50800" dir="2700000" algn="bl" rotWithShape="0">
              <a:srgbClr val="00C853">
                <a:alpha val="30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2" name="Text 19"/>
          <p:cNvSpPr/>
          <p:nvPr/>
        </p:nvSpPr>
        <p:spPr>
          <a:xfrm>
            <a:off x="457200" y="4059936"/>
            <a:ext cx="8229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Kelaniya  •  COSC 31103 / BECS 31233  •  freshceylon@gmail.com  •  070-4282988</a:t>
            </a:r>
            <a:endParaRPr lang="en-US" sz="1200" dirty="0"/>
          </a:p>
        </p:txBody>
      </p:sp>
      <p:sp>
        <p:nvSpPr>
          <p:cNvPr id="9901" name="DeptLogoBox"/>
          <p:cNvSpPr/>
          <p:nvPr/>
        </p:nvSpPr>
        <p:spPr>
          <a:xfrm>
            <a:off x="6840000" y="100000"/>
            <a:ext cx="2220000" cy="3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>
            <a:outerShdw blurRad="50000" dist="20000" dir="5400000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pic>
        <p:nvPicPr>
          <p:cNvPr id="9902" name="DeptLogo" descr="Department of Statistics &amp; Computer Science, University of Kelani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00" y="150000"/>
            <a:ext cx="2100000" cy="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753</Words>
  <Application>Microsoft Office PowerPoint</Application>
  <PresentationFormat>On-screen Show (16:9)</PresentationFormat>
  <Paragraphs>182</Paragraphs>
  <Slides>17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PS/2022/070 - ALAGIYAWANNA A.M.A.D.M.</cp:lastModifiedBy>
  <cp:revision>11</cp:revision>
  <dcterms:created xsi:type="dcterms:W3CDTF">2026-06-22T05:42:40Z</dcterms:created>
  <dcterms:modified xsi:type="dcterms:W3CDTF">2026-07-03T19:05:21Z</dcterms:modified>
</cp:coreProperties>
</file>